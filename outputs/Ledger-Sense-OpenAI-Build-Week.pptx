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265" r:id="rId2"/>
    <p:sldId id="273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rgbClr val="E9EDF4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rgbClr val="E9EDF4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rgbClr val="E9EDF4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rgbClr val="E9EDF4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E9EDF4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rgbClr val="E9EDF4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3D7640-1328-4254-BFE2-95297A48CA7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OPENAI BUILD WEEK · CODEX + GPT-5.6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17C174-F298-47DC-A3E6-31B0E327F26C}"/>
              </a:ext>
            </a:extLst>
          </p:cNvPr>
          <p:cNvSpPr>
            <a:spLocks noGrp="1"/>
          </p:cNvSpPr>
          <p:nvPr/>
        </p:nvSpPr>
        <p:spPr>
          <a:xfrm>
            <a:off x="702318" y="2130225"/>
            <a:ext cx="533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45"/>
          </a:bodyPr>
          <a:lstStyle/>
          <a:p>
            <a:pPr algn="l">
              <a:defRPr sz="6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</a:t>
            </a:r>
            <a:r>
              <a:rPr lang="en-US" sz="6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 </a:t>
            </a:r>
            <a:r>
              <a:rPr sz="6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Sense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89911B-5E42-44B1-B222-F1CD9B3D307C}"/>
              </a:ext>
            </a:extLst>
          </p:cNvPr>
          <p:cNvSpPr>
            <a:spLocks noGrp="1"/>
          </p:cNvSpPr>
          <p:nvPr/>
        </p:nvSpPr>
        <p:spPr>
          <a:xfrm>
            <a:off x="702318" y="3292274"/>
            <a:ext cx="10063464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 safety-first reasoning layer for the ambiguous AR payments traditional rule engines leave behind.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00050" y="5429250"/>
            <a:ext cx="3429000" cy="0"/>
          </a:xfrm>
          <a:prstGeom prst="straightConnector1">
            <a:avLst/>
          </a:prstGeom>
          <a:ln w="38100">
            <a:solidFill>
              <a:srgbClr val="5EEAD4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C848CC2-EFC1-4E24-82A9-34E98C8316BA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GPT-5.6 resolves ambiguity. Deterministic code verifies every dollar.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AD68C-6E71-43AE-B35D-32BF317047FD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 Sense AI  |  Work &amp; Productivity</a:t>
            </a:r>
          </a:p>
        </p:txBody>
      </p:sp>
    </p:spTree>
    <p:extLst>
      <p:ext uri="{BB962C8B-B14F-4D97-AF65-F5344CB8AC3E}">
        <p14:creationId xmlns:p14="http://schemas.microsoft.com/office/powerpoint/2010/main" val="3469778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02F6824-AF9F-49F4-8FD3-02E13FA063DB}"/>
              </a:ext>
            </a:extLst>
          </p:cNvPr>
          <p:cNvSpPr>
            <a:spLocks noGrp="1"/>
          </p:cNvSpPr>
          <p:nvPr/>
        </p:nvSpPr>
        <p:spPr>
          <a:xfrm>
            <a:off x="5415324" y="2598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E04CD-BD2C-483D-B6AA-42719D83E107}"/>
              </a:ext>
            </a:extLst>
          </p:cNvPr>
          <p:cNvSpPr>
            <a:spLocks noGrp="1"/>
          </p:cNvSpPr>
          <p:nvPr/>
        </p:nvSpPr>
        <p:spPr>
          <a:xfrm>
            <a:off x="1347917" y="641350"/>
            <a:ext cx="10711646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625"/>
          </a:bodyPr>
          <a:lstStyle/>
          <a:p>
            <a:pPr algn="l">
              <a:defRPr sz="28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The hard 15–20% of payments need judgment, not another rule.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E0EC18-54A6-449F-8BB6-96218854D0B4}"/>
              </a:ext>
            </a:extLst>
          </p:cNvPr>
          <p:cNvSpPr>
            <a:spLocks noGrp="1"/>
          </p:cNvSpPr>
          <p:nvPr/>
        </p:nvSpPr>
        <p:spPr>
          <a:xfrm>
            <a:off x="338921" y="1444625"/>
            <a:ext cx="5048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Bank statements arrive with truncated payer names, factoring intermediaries, partial payments, disputed invoices, and compliance holds. Exact-match automation stops there.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6F4188-0D2A-44FB-A7F2-E20BE6A43B10}"/>
              </a:ext>
            </a:extLst>
          </p:cNvPr>
          <p:cNvSpPr>
            <a:spLocks noGrp="1"/>
          </p:cNvSpPr>
          <p:nvPr/>
        </p:nvSpPr>
        <p:spPr>
          <a:xfrm>
            <a:off x="319087" y="2551113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9525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9D08E2-7FA9-4524-995D-9B8F6A9C328C}"/>
              </a:ext>
            </a:extLst>
          </p:cNvPr>
          <p:cNvSpPr>
            <a:spLocks noGrp="1"/>
          </p:cNvSpPr>
          <p:nvPr/>
        </p:nvSpPr>
        <p:spPr>
          <a:xfrm>
            <a:off x="433387" y="2643187"/>
            <a:ext cx="1390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E0A4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E0A458"/>
                </a:solidFill>
                <a:latin typeface="Helvetica Neue"/>
                <a:ea typeface="Helvetica Neue"/>
                <a:cs typeface="Helvetica Neue"/>
              </a:rPr>
              <a:t>TRUNCATED NAMES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5A0501-9CD9-4D45-838B-BA530F5A01CA}"/>
              </a:ext>
            </a:extLst>
          </p:cNvPr>
          <p:cNvSpPr>
            <a:spLocks noGrp="1"/>
          </p:cNvSpPr>
          <p:nvPr/>
        </p:nvSpPr>
        <p:spPr>
          <a:xfrm>
            <a:off x="2062162" y="2551113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9525">
            <a:solidFill>
              <a:srgbClr val="6FA8FF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285B2-23E3-4013-808A-4008ED827839}"/>
              </a:ext>
            </a:extLst>
          </p:cNvPr>
          <p:cNvSpPr>
            <a:spLocks noGrp="1"/>
          </p:cNvSpPr>
          <p:nvPr/>
        </p:nvSpPr>
        <p:spPr>
          <a:xfrm>
            <a:off x="2167707" y="2610292"/>
            <a:ext cx="1009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6FA8FF"/>
                </a:solidFill>
                <a:latin typeface="Helvetica Neue"/>
                <a:ea typeface="Helvetica Neue"/>
                <a:cs typeface="Helvetica Neue"/>
              </a:rPr>
              <a:t>FACTORING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8A8253-6655-4A93-9D88-85EDB8E0A017}"/>
              </a:ext>
            </a:extLst>
          </p:cNvPr>
          <p:cNvSpPr>
            <a:spLocks noGrp="1"/>
          </p:cNvSpPr>
          <p:nvPr/>
        </p:nvSpPr>
        <p:spPr>
          <a:xfrm>
            <a:off x="3424237" y="2551113"/>
            <a:ext cx="1190625" cy="285750"/>
          </a:xfrm>
          <a:prstGeom prst="roundRect">
            <a:avLst>
              <a:gd name="adj" fmla="val 50000"/>
            </a:avLst>
          </a:prstGeom>
          <a:solidFill>
            <a:srgbClr val="19212E"/>
          </a:solidFill>
          <a:ln w="9525">
            <a:solidFill>
              <a:srgbClr val="F0736B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962DFB-AEC4-4D13-8CF3-4462D0498540}"/>
              </a:ext>
            </a:extLst>
          </p:cNvPr>
          <p:cNvSpPr>
            <a:spLocks noGrp="1"/>
          </p:cNvSpPr>
          <p:nvPr/>
        </p:nvSpPr>
        <p:spPr>
          <a:xfrm>
            <a:off x="3520257" y="2610292"/>
            <a:ext cx="9620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F0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F0736B"/>
                </a:solidFill>
                <a:latin typeface="Helvetica Neue"/>
                <a:ea typeface="Helvetica Neue"/>
                <a:cs typeface="Helvetica Neue"/>
              </a:rPr>
              <a:t>DISPUTES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596283-D2BC-45D9-959F-562C3679E4D8}"/>
              </a:ext>
            </a:extLst>
          </p:cNvPr>
          <p:cNvSpPr>
            <a:spLocks noGrp="1"/>
          </p:cNvSpPr>
          <p:nvPr/>
        </p:nvSpPr>
        <p:spPr>
          <a:xfrm>
            <a:off x="172219" y="3188226"/>
            <a:ext cx="5048250" cy="5966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Messy incoming payments beside the internal open-AR ledger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838AE5A-382B-4E03-904A-51E089F358E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LEDGER SENSE  ·  OPENAI BUILD WEEK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95E14C-D549-4869-B645-785425468990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6EF717-0578-22AE-ED38-3FC96CDAA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720" y="2071151"/>
            <a:ext cx="6743843" cy="423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3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8A4F1E1-9FF7-4C32-A4A5-41C686165BD4}"/>
              </a:ext>
            </a:extLst>
          </p:cNvPr>
          <p:cNvSpPr>
            <a:spLocks noGrp="1"/>
          </p:cNvSpPr>
          <p:nvPr/>
        </p:nvSpPr>
        <p:spPr>
          <a:xfrm>
            <a:off x="4381500" y="4286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239B17-7429-4B64-98D8-46A3C54F67AD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Five agents separate judgment from financial truth.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019300" y="3409950"/>
            <a:ext cx="219075" cy="0"/>
          </a:xfrm>
          <a:prstGeom prst="straightConnector1">
            <a:avLst/>
          </a:prstGeom>
          <a:ln w="28575">
            <a:solidFill>
              <a:srgbClr val="2E3A4E"/>
            </a:solidFill>
            <a:prstDash val="solid"/>
          </a:ln>
        </p:spPr>
      </p:cxnSp>
      <p:cxnSp>
        <p:nvCxnSpPr>
          <p:cNvPr id="30" name="Straight Arrow Connector 29"/>
          <p:cNvCxnSpPr/>
          <p:nvPr/>
        </p:nvCxnSpPr>
        <p:spPr>
          <a:xfrm>
            <a:off x="3857625" y="3409950"/>
            <a:ext cx="904875" cy="0"/>
          </a:xfrm>
          <a:prstGeom prst="straightConnector1">
            <a:avLst/>
          </a:prstGeom>
          <a:ln w="28575">
            <a:solidFill>
              <a:srgbClr val="2E3A4E"/>
            </a:solidFill>
            <a:prstDash val="solid"/>
          </a:ln>
        </p:spPr>
      </p:cxnSp>
      <p:cxnSp>
        <p:nvCxnSpPr>
          <p:cNvPr id="31" name="Straight Arrow Connector 30"/>
          <p:cNvCxnSpPr/>
          <p:nvPr/>
        </p:nvCxnSpPr>
        <p:spPr>
          <a:xfrm>
            <a:off x="6381750" y="3409950"/>
            <a:ext cx="1095375" cy="0"/>
          </a:xfrm>
          <a:prstGeom prst="straightConnector1">
            <a:avLst/>
          </a:prstGeom>
          <a:ln w="28575">
            <a:solidFill>
              <a:srgbClr val="2E3A4E"/>
            </a:solidFill>
            <a:prstDash val="solid"/>
          </a:ln>
        </p:spPr>
      </p:cxnSp>
      <p:cxnSp>
        <p:nvCxnSpPr>
          <p:cNvPr id="32" name="Straight Arrow Connector 31"/>
          <p:cNvCxnSpPr/>
          <p:nvPr/>
        </p:nvCxnSpPr>
        <p:spPr>
          <a:xfrm>
            <a:off x="9096375" y="3409950"/>
            <a:ext cx="828675" cy="0"/>
          </a:xfrm>
          <a:prstGeom prst="straightConnector1">
            <a:avLst/>
          </a:prstGeom>
          <a:ln w="28575">
            <a:solidFill>
              <a:srgbClr val="2E3A4E"/>
            </a:solidFill>
            <a:prstDash val="solid"/>
          </a:ln>
        </p:spPr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937FFA-98EB-4F84-B427-259826AA77D2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619250" cy="110490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n w="0">
                <a:solidFill>
                  <a:schemeClr val="accent1"/>
                </a:solidFill>
              </a:ln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3609F6-6068-432B-842E-1F834A525BB2}"/>
              </a:ext>
            </a:extLst>
          </p:cNvPr>
          <p:cNvSpPr>
            <a:spLocks noGrp="1"/>
          </p:cNvSpPr>
          <p:nvPr/>
        </p:nvSpPr>
        <p:spPr>
          <a:xfrm>
            <a:off x="542925" y="30289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rPr>
              <a:t>Bank payments</a:t>
            </a:r>
          </a:p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rPr>
              <a:t>+ Open 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FC8786-6AF0-4513-9FE2-CFCBB19E8A27}"/>
              </a:ext>
            </a:extLst>
          </p:cNvPr>
          <p:cNvSpPr>
            <a:spLocks noGrp="1"/>
          </p:cNvSpPr>
          <p:nvPr/>
        </p:nvSpPr>
        <p:spPr>
          <a:xfrm>
            <a:off x="542925" y="3619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C934FC-BAB4-4CD1-BF5F-7E28A357F9C8}"/>
              </a:ext>
            </a:extLst>
          </p:cNvPr>
          <p:cNvSpPr>
            <a:spLocks noGrp="1"/>
          </p:cNvSpPr>
          <p:nvPr/>
        </p:nvSpPr>
        <p:spPr>
          <a:xfrm>
            <a:off x="2238375" y="2857500"/>
            <a:ext cx="1619250" cy="1104900"/>
          </a:xfrm>
          <a:prstGeom prst="roundRect">
            <a:avLst>
              <a:gd name="adj" fmla="val 10345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DD3CD2-7DA3-406E-8BDA-E61E7209E509}"/>
              </a:ext>
            </a:extLst>
          </p:cNvPr>
          <p:cNvSpPr>
            <a:spLocks noGrp="1"/>
          </p:cNvSpPr>
          <p:nvPr/>
        </p:nvSpPr>
        <p:spPr>
          <a:xfrm>
            <a:off x="2381250" y="30289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60" lnSpcReduction="20000"/>
          </a:bodyPr>
          <a:lstStyle/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1. Normalize</a:t>
            </a:r>
          </a:p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Deterministic + GPT-5.6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87A40D-DE2F-404D-B118-A11A6A597E47}"/>
              </a:ext>
            </a:extLst>
          </p:cNvPr>
          <p:cNvSpPr>
            <a:spLocks noGrp="1"/>
          </p:cNvSpPr>
          <p:nvPr/>
        </p:nvSpPr>
        <p:spPr>
          <a:xfrm>
            <a:off x="2381250" y="3619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Entity resolution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265B88-8FA5-454F-8309-C5659A60DD73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1619250" cy="1104900"/>
          </a:xfrm>
          <a:prstGeom prst="roundRect">
            <a:avLst>
              <a:gd name="adj" fmla="val 10345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EB818-5AA9-45C7-A177-8C6DD92F63C6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60" lnSpcReduction="20000"/>
          </a:bodyPr>
          <a:lstStyle/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2–3. Index &amp; verify</a:t>
            </a:r>
          </a:p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Deterministic Decimal math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540141-AA7B-443C-B36A-7B1889856594}"/>
              </a:ext>
            </a:extLst>
          </p:cNvPr>
          <p:cNvSpPr>
            <a:spLocks noGrp="1"/>
          </p:cNvSpPr>
          <p:nvPr/>
        </p:nvSpPr>
        <p:spPr>
          <a:xfrm>
            <a:off x="4905375" y="3619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Candidate evidence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0F19669-5BC2-4DDA-A649-9182DC0B7CC6}"/>
              </a:ext>
            </a:extLst>
          </p:cNvPr>
          <p:cNvSpPr>
            <a:spLocks noGrp="1"/>
          </p:cNvSpPr>
          <p:nvPr/>
        </p:nvSpPr>
        <p:spPr>
          <a:xfrm>
            <a:off x="7477125" y="2857500"/>
            <a:ext cx="1619250" cy="1104900"/>
          </a:xfrm>
          <a:prstGeom prst="roundRect">
            <a:avLst>
              <a:gd name="adj" fmla="val 10345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2DF5A1-0ACF-446C-944E-667B6A09A5A5}"/>
              </a:ext>
            </a:extLst>
          </p:cNvPr>
          <p:cNvSpPr>
            <a:spLocks noGrp="1"/>
          </p:cNvSpPr>
          <p:nvPr/>
        </p:nvSpPr>
        <p:spPr>
          <a:xfrm>
            <a:off x="7620000" y="30289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4. Reason exceptions</a:t>
            </a:r>
          </a:p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GPT-5.6 + hard gates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79D8D7-8691-47E5-A4FF-A1546B6F2AC1}"/>
              </a:ext>
            </a:extLst>
          </p:cNvPr>
          <p:cNvSpPr>
            <a:spLocks noGrp="1"/>
          </p:cNvSpPr>
          <p:nvPr/>
        </p:nvSpPr>
        <p:spPr>
          <a:xfrm>
            <a:off x="7620000" y="3619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Route decision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356B3F-9F04-4DAA-BF74-0F1F9B34F01F}"/>
              </a:ext>
            </a:extLst>
          </p:cNvPr>
          <p:cNvSpPr>
            <a:spLocks noGrp="1"/>
          </p:cNvSpPr>
          <p:nvPr/>
        </p:nvSpPr>
        <p:spPr>
          <a:xfrm>
            <a:off x="9925050" y="2857500"/>
            <a:ext cx="1619250" cy="1104900"/>
          </a:xfrm>
          <a:prstGeom prst="roundRect">
            <a:avLst>
              <a:gd name="adj" fmla="val 10345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45903-8FE9-46D7-ACDA-5196503C4FD8}"/>
              </a:ext>
            </a:extLst>
          </p:cNvPr>
          <p:cNvSpPr>
            <a:spLocks noGrp="1"/>
          </p:cNvSpPr>
          <p:nvPr/>
        </p:nvSpPr>
        <p:spPr>
          <a:xfrm>
            <a:off x="10067925" y="30289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981"/>
          </a:bodyPr>
          <a:lstStyle/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5. Create postings</a:t>
            </a:r>
          </a:p>
          <a:p>
            <a:pPr algn="ctr">
              <a:defRPr sz="13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Deterministic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3BE6DF-5A05-422B-8709-1AC6978BD9D7}"/>
              </a:ext>
            </a:extLst>
          </p:cNvPr>
          <p:cNvSpPr>
            <a:spLocks noGrp="1"/>
          </p:cNvSpPr>
          <p:nvPr/>
        </p:nvSpPr>
        <p:spPr>
          <a:xfrm>
            <a:off x="10067925" y="3619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Posting instruction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EFC51B-4257-47EB-BA20-B6CCB58B56D5}"/>
              </a:ext>
            </a:extLst>
          </p:cNvPr>
          <p:cNvSpPr>
            <a:spLocks noGrp="1"/>
          </p:cNvSpPr>
          <p:nvPr/>
        </p:nvSpPr>
        <p:spPr>
          <a:xfrm>
            <a:off x="2038350" y="49911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Every stage appends its decision to SQLite audit events; SSE streams the same progress to the </a:t>
            </a:r>
            <a:r>
              <a:rPr sz="2000" b="1" dirty="0" err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Next.js</a:t>
            </a:r>
            <a:r>
              <a:rPr sz="200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 dashboard.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60F173D-DE16-4725-A1BA-B99004A6E2F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LEDGER SENSE  ·  OPENAI BUILD WEEK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241FC5-4765-4CA5-B592-CF328565B26B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965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A746CC-04EF-49D1-B8E0-78E04F5EB58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SAFETY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AD418-5747-4765-8A5C-809AE499079D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51"/>
          </a:bodyPr>
          <a:lstStyle/>
          <a:p>
            <a:pPr algn="l">
              <a:defRPr sz="3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 model recommendation is never enough to move money.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EF358-030D-45EF-BEBB-C927EF39915B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CA5D7-D2CB-4D12-8927-0CED86480463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Deterministic math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6F00B-9E07-482F-B106-D08397B2947F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Amounts, allocations, duplicate checks, and FX calculations use Decimal-backed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5B583-F471-4167-9973-B8CC1824ABD0}"/>
              </a:ext>
            </a:extLst>
          </p:cNvPr>
          <p:cNvSpPr>
            <a:spLocks noGrp="1"/>
          </p:cNvSpPr>
          <p:nvPr/>
        </p:nvSpPr>
        <p:spPr>
          <a:xfrm>
            <a:off x="3209925" y="21336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BAAA3-6576-4225-A3C4-01AD00E10184}"/>
              </a:ext>
            </a:extLst>
          </p:cNvPr>
          <p:cNvSpPr>
            <a:spLocks noGrp="1"/>
          </p:cNvSpPr>
          <p:nvPr/>
        </p:nvSpPr>
        <p:spPr>
          <a:xfrm>
            <a:off x="3209925" y="27622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GPT-5.6 judgment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218BB-F797-403B-B935-33106EC0DB9A}"/>
              </a:ext>
            </a:extLst>
          </p:cNvPr>
          <p:cNvSpPr>
            <a:spLocks noGrp="1"/>
          </p:cNvSpPr>
          <p:nvPr/>
        </p:nvSpPr>
        <p:spPr>
          <a:xfrm>
            <a:off x="3209925" y="32766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Entity resolution, aliases, factoring relationships, and analyst-readable routing rationales.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0E632D-D093-4228-AFA3-6A812F2DD989}"/>
              </a:ext>
            </a:extLst>
          </p:cNvPr>
          <p:cNvSpPr>
            <a:spLocks noGrp="1"/>
          </p:cNvSpPr>
          <p:nvPr/>
        </p:nvSpPr>
        <p:spPr>
          <a:xfrm>
            <a:off x="6019800" y="21336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765B3-7322-4A63-A375-5CF9CD02498E}"/>
              </a:ext>
            </a:extLst>
          </p:cNvPr>
          <p:cNvSpPr>
            <a:spLocks noGrp="1"/>
          </p:cNvSpPr>
          <p:nvPr/>
        </p:nvSpPr>
        <p:spPr>
          <a:xfrm>
            <a:off x="6019800" y="27622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Hard gates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F3A6E-027F-41DA-A4E9-525997FF3524}"/>
              </a:ext>
            </a:extLst>
          </p:cNvPr>
          <p:cNvSpPr>
            <a:spLocks noGrp="1"/>
          </p:cNvSpPr>
          <p:nvPr/>
        </p:nvSpPr>
        <p:spPr>
          <a:xfrm>
            <a:off x="6019800" y="32766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Compliance and legal holds cannot be bypassed. Auto-post requires a verified allocation at ≥95%.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5249E-EA85-4E85-8384-92618B4A10C5}"/>
              </a:ext>
            </a:extLst>
          </p:cNvPr>
          <p:cNvSpPr>
            <a:spLocks noGrp="1"/>
          </p:cNvSpPr>
          <p:nvPr/>
        </p:nvSpPr>
        <p:spPr>
          <a:xfrm>
            <a:off x="8829675" y="21336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E876E-AA04-47DF-AF56-7961C28F41BF}"/>
              </a:ext>
            </a:extLst>
          </p:cNvPr>
          <p:cNvSpPr>
            <a:spLocks noGrp="1"/>
          </p:cNvSpPr>
          <p:nvPr/>
        </p:nvSpPr>
        <p:spPr>
          <a:xfrm>
            <a:off x="8829675" y="27622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Append-only audit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E7476-D2F7-471E-AF9A-62448CA74D0C}"/>
              </a:ext>
            </a:extLst>
          </p:cNvPr>
          <p:cNvSpPr>
            <a:spLocks noGrp="1"/>
          </p:cNvSpPr>
          <p:nvPr/>
        </p:nvSpPr>
        <p:spPr>
          <a:xfrm>
            <a:off x="8829675" y="32766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Every agent decision is recorded; no updates or deletes are permitted.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400050" y="495300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06D1AE1-B116-4924-BF22-3CBC1AB42D99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Worked example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844B59-FE90-48F8-A0F0-C8F6841B65BD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 prior test found an unsafe auto-post recommendation without a verified invoice. The fix: the routing safety gate forces review unless deterministic code verifies the allocation.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698A7C5-B3AC-4529-A4BC-3453D0C0F5A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LEDGER SENSE  ·  OPENAI BUILD WEEK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27A8D2-FAB2-42C7-B6E9-F6654CB0BC09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723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8B891-A90B-49CE-A7B9-8CC97597461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DATA PRIVACY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8170F-56DE-4EB6-ABC1-A28C746F812D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Model context is intentionally narrow and reviewable.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8E2E65-9D44-42D0-9E99-443208402888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334000" cy="2971800"/>
          </a:xfrm>
          <a:prstGeom prst="roundRect">
            <a:avLst>
              <a:gd name="adj" fmla="val 3846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58D393-1124-4629-9F67-53261BF55313}"/>
              </a:ext>
            </a:extLst>
          </p:cNvPr>
          <p:cNvSpPr>
            <a:spLocks noGrp="1"/>
          </p:cNvSpPr>
          <p:nvPr/>
        </p:nvSpPr>
        <p:spPr>
          <a:xfrm>
            <a:off x="6057900" y="2019300"/>
            <a:ext cx="5734050" cy="2971800"/>
          </a:xfrm>
          <a:prstGeom prst="roundRect">
            <a:avLst>
              <a:gd name="adj" fmla="val 3846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5FC9D-551E-4100-B9CC-3F7CF5FA65CE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Sent to GPT-5.6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6B482-8CB3-4405-A68E-CA71E84005F9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Payer and remittance text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Amount, currency, payment type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Statement date and transaction ID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Customer identity catalog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Narrow deterministic candidate 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55F53B-F003-4374-9926-29B0E6230FF0}"/>
              </a:ext>
            </a:extLst>
          </p:cNvPr>
          <p:cNvSpPr>
            <a:spLocks noGrp="1"/>
          </p:cNvSpPr>
          <p:nvPr/>
        </p:nvSpPr>
        <p:spPr>
          <a:xfrm>
            <a:off x="6362700" y="23622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0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0736B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Explicitly not forwarded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E57A08-9570-455D-B5AD-3CF709AD4F13}"/>
              </a:ext>
            </a:extLst>
          </p:cNvPr>
          <p:cNvSpPr>
            <a:spLocks noGrp="1"/>
          </p:cNvSpPr>
          <p:nvPr/>
        </p:nvSpPr>
        <p:spPr>
          <a:xfrm>
            <a:off x="6362700" y="2914650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Account and routing numbers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Tax IDs or arbitrary upstream fields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Full ledger records</a:t>
            </a:r>
          </a:p>
          <a:p>
            <a:pPr algn="l">
              <a:defRPr sz="1500" b="0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• Invoice amounts beyond scoped deterministic facts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E22F1-5061-4148-A40E-9D9964E25ADB}"/>
              </a:ext>
            </a:extLst>
          </p:cNvPr>
          <p:cNvSpPr>
            <a:spLocks noGrp="1"/>
          </p:cNvSpPr>
          <p:nvPr/>
        </p:nvSpPr>
        <p:spPr>
          <a:xfrm>
            <a:off x="400050" y="542925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334"/>
          </a:bodyPr>
          <a:lstStyle/>
          <a:p>
            <a:pPr algn="l">
              <a:defRPr sz="16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An enforced payment-field allowlist and regression test keep new sensitive integration fields local by default.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27E77CB-1C35-47E6-B994-A6A759249AC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 SENSE  ·  OPENAI BUILD WEEK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8AA987-FF4E-4FD6-80F6-BB78B921D9B5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405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8E0B5E3-E40E-421D-AD61-BDB8F07561D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HOW CODEX MATTERED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BE228-8CF6-451C-BCFB-8D5E31CAC6AA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317" lnSpcReduction="10000"/>
          </a:bodyPr>
          <a:lstStyle/>
          <a:p>
            <a:pPr algn="l">
              <a:defRPr sz="3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Codex accelerated implementation—and exposed the design flaws worth fixing.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666750" y="5295900"/>
            <a:ext cx="10858500" cy="0"/>
          </a:xfrm>
          <a:prstGeom prst="straightConnector1">
            <a:avLst/>
          </a:prstGeom>
          <a:ln w="9525">
            <a:solidFill>
              <a:srgbClr val="E9EDF4"/>
            </a:solidFill>
            <a:prstDash val="solid"/>
          </a:ln>
        </p:spPr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29ECD7-A2A7-467B-99A5-0205F03B4FCD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62D4-BB4E-43B6-8960-B39A84DCA846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1E0CB-D659-4826-AAE1-AD47F3B4635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Designed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26B44-060B-42B8-A200-C229377B8319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Defined the five-agent split: code for math, GPT-5.6 for ambiguity, gates for irreversible actions.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21F57F-AEFF-4146-BF15-C12BA7734D6B}"/>
              </a:ext>
            </a:extLst>
          </p:cNvPr>
          <p:cNvSpPr>
            <a:spLocks noGrp="1"/>
          </p:cNvSpPr>
          <p:nvPr/>
        </p:nvSpPr>
        <p:spPr>
          <a:xfrm>
            <a:off x="628650" y="5200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 w="9525">
            <a:solidFill>
              <a:srgbClr val="E9EDF4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85C88A-2341-4082-85B5-6DA24A2FAEBA}"/>
              </a:ext>
            </a:extLst>
          </p:cNvPr>
          <p:cNvSpPr>
            <a:spLocks noGrp="1"/>
          </p:cNvSpPr>
          <p:nvPr/>
        </p:nvSpPr>
        <p:spPr>
          <a:xfrm>
            <a:off x="4200525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6B078-3715-4D45-A616-2D91EDAC8FAC}"/>
              </a:ext>
            </a:extLst>
          </p:cNvPr>
          <p:cNvSpPr>
            <a:spLocks noGrp="1"/>
          </p:cNvSpPr>
          <p:nvPr/>
        </p:nvSpPr>
        <p:spPr>
          <a:xfrm>
            <a:off x="4467225" y="220980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E9E4D5-29EE-40E2-9037-452D8E18889F}"/>
              </a:ext>
            </a:extLst>
          </p:cNvPr>
          <p:cNvSpPr>
            <a:spLocks noGrp="1"/>
          </p:cNvSpPr>
          <p:nvPr/>
        </p:nvSpPr>
        <p:spPr>
          <a:xfrm>
            <a:off x="4467225" y="2857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Debugged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44015-0B56-4A3A-8E8F-5F5C831BFF5B}"/>
              </a:ext>
            </a:extLst>
          </p:cNvPr>
          <p:cNvSpPr>
            <a:spLocks noGrp="1"/>
          </p:cNvSpPr>
          <p:nvPr/>
        </p:nvSpPr>
        <p:spPr>
          <a:xfrm>
            <a:off x="4467225" y="346710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Found the unsafe auto-post path, environment-key shadowing, confidence calibration drift, and alias mapping defects.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65F3A7-FA60-4993-805D-89B253731851}"/>
              </a:ext>
            </a:extLst>
          </p:cNvPr>
          <p:cNvSpPr>
            <a:spLocks noGrp="1"/>
          </p:cNvSpPr>
          <p:nvPr/>
        </p:nvSpPr>
        <p:spPr>
          <a:xfrm>
            <a:off x="4429125" y="5200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 w="9525">
            <a:solidFill>
              <a:srgbClr val="E9EDF4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3BD426-9545-4CB2-9410-E97E5B642186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D14DA-95C3-4E9F-800B-A2E10F9C4355}"/>
              </a:ext>
            </a:extLst>
          </p:cNvPr>
          <p:cNvSpPr>
            <a:spLocks noGrp="1"/>
          </p:cNvSpPr>
          <p:nvPr/>
        </p:nvSpPr>
        <p:spPr>
          <a:xfrm>
            <a:off x="8267700" y="220980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5B554D-6671-4693-8763-E8F6DA117634}"/>
              </a:ext>
            </a:extLst>
          </p:cNvPr>
          <p:cNvSpPr>
            <a:spLocks noGrp="1"/>
          </p:cNvSpPr>
          <p:nvPr/>
        </p:nvSpPr>
        <p:spPr>
          <a:xfrm>
            <a:off x="8267700" y="2857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Verified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906A8-4A7D-455B-81A4-22D83C7583E3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Built synthetic edge cases, privacy allowlist tests, and a live cross-sample audit across all 83 transactions.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18451A-1287-40FE-88F2-5BF6EE8129C3}"/>
              </a:ext>
            </a:extLst>
          </p:cNvPr>
          <p:cNvSpPr>
            <a:spLocks noGrp="1"/>
          </p:cNvSpPr>
          <p:nvPr/>
        </p:nvSpPr>
        <p:spPr>
          <a:xfrm>
            <a:off x="8229600" y="5200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 w="9525">
            <a:solidFill>
              <a:srgbClr val="E9EDF4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CB54528-4A0B-4473-8264-44E6C2276EA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 SENSE  ·  OPENAI BUILD WEEK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014F22-25B1-482D-9480-3B91DC116968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6078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5D9D97-302E-4B97-A5A6-701D153EE80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6CB099-5E75-4106-BCFB-918CDCAA2CC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817"/>
          </a:bodyPr>
          <a:lstStyle/>
          <a:p>
            <a:pPr algn="l">
              <a:defRPr sz="31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The demo makes the safety policy visible—not hidden in a prompt.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CE1E04-1B3B-44D5-BC87-09483B6DFF78}"/>
              </a:ext>
            </a:extLst>
          </p:cNvPr>
          <p:cNvSpPr>
            <a:spLocks noGrp="1"/>
          </p:cNvSpPr>
          <p:nvPr/>
        </p:nvSpPr>
        <p:spPr>
          <a:xfrm>
            <a:off x="400050" y="1771650"/>
            <a:ext cx="5524500" cy="4095750"/>
          </a:xfrm>
          <a:prstGeom prst="roundRect">
            <a:avLst>
              <a:gd name="adj" fmla="val 2791"/>
            </a:avLst>
          </a:prstGeom>
          <a:solidFill>
            <a:srgbClr val="19212E"/>
          </a:solidFill>
          <a:ln w="9525">
            <a:solidFill>
              <a:srgbClr val="2E3A4E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5313" r="5313"/>
          <a:stretch>
            <a:fillRect/>
          </a:stretch>
        </p:blipFill>
        <p:spPr>
          <a:xfrm>
            <a:off x="542925" y="1914525"/>
            <a:ext cx="5238750" cy="381000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C6B389-D4DD-4145-9ED2-5C5E026ED13D}"/>
              </a:ext>
            </a:extLst>
          </p:cNvPr>
          <p:cNvSpPr>
            <a:spLocks noGrp="1"/>
          </p:cNvSpPr>
          <p:nvPr/>
        </p:nvSpPr>
        <p:spPr>
          <a:xfrm>
            <a:off x="6438900" y="23336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6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6DE3C-6A56-4964-9BFD-FB013E9AEE16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real-world AR edge cases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5A2E7-15B5-4ED1-B30A-3EF61F33CA8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83 / 83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302912-12EF-41AB-AB98-7F267827EFDF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cross-sample audit checks passing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DAA637-6026-412E-8823-DC8FF8ED3265}"/>
              </a:ext>
            </a:extLst>
          </p:cNvPr>
          <p:cNvSpPr>
            <a:spLocks noGrp="1"/>
          </p:cNvSpPr>
          <p:nvPr/>
        </p:nvSpPr>
        <p:spPr>
          <a:xfrm>
            <a:off x="10525125" y="23336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60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FB62B7-A706-4BDD-8FA8-A4FB4E850A5D}"/>
              </a:ext>
            </a:extLst>
          </p:cNvPr>
          <p:cNvSpPr>
            <a:spLocks noGrp="1"/>
          </p:cNvSpPr>
          <p:nvPr/>
        </p:nvSpPr>
        <p:spPr>
          <a:xfrm>
            <a:off x="10525125" y="31051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specialized agents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D6A75-955B-445A-B55F-8901740E1C77}"/>
              </a:ext>
            </a:extLst>
          </p:cNvPr>
          <p:cNvSpPr>
            <a:spLocks noGrp="1"/>
          </p:cNvSpPr>
          <p:nvPr/>
        </p:nvSpPr>
        <p:spPr>
          <a:xfrm>
            <a:off x="6438900" y="440055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944" lnSpcReduction="10000"/>
          </a:bodyPr>
          <a:lstStyle/>
          <a:p>
            <a:pPr algn="l">
              <a:defRPr sz="1875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Human review remains the default whenever evidence is incomplete, ambiguous, or blocked by policy.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00050" y="6305550"/>
            <a:ext cx="11391900" cy="0"/>
          </a:xfrm>
          <a:prstGeom prst="straightConnector1">
            <a:avLst/>
          </a:prstGeom>
          <a:ln w="9525">
            <a:solidFill>
              <a:srgbClr val="2E3A4E"/>
            </a:solidFill>
            <a:prstDash val="soli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B0199-0622-40F6-AE2A-FBD071C71B2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 SENSE  ·  OPENAI BUILD WEEK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F707C5-2419-4B7B-B8A0-FCCCF24A2DB9}"/>
              </a:ext>
            </a:extLst>
          </p:cNvPr>
          <p:cNvSpPr>
            <a:spLocks noGrp="1"/>
          </p:cNvSpPr>
          <p:nvPr/>
        </p:nvSpPr>
        <p:spPr>
          <a:xfrm>
            <a:off x="1139190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387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B9DC41-9502-4D0A-A720-44F05DD9F6F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EEA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EEAD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LEDGER SENSE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61593-C0B7-47FA-A616-990E01D4D242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8858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8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Reason through</a:t>
            </a:r>
          </a:p>
          <a:p>
            <a:pPr algn="l">
              <a:defRPr sz="585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what rules cannot.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362AB-B2B9-46A8-85F9-D68BEF6B1CB9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666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GPT-5.6 for ambiguity.</a:t>
            </a:r>
          </a:p>
          <a:p>
            <a:pPr algn="l">
              <a:defRPr sz="2025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Deterministic verification for financial truth.</a:t>
            </a:r>
          </a:p>
          <a:p>
            <a:pPr algn="l">
              <a:defRPr sz="2025" b="0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Hard gates for trust.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00050" y="5848350"/>
            <a:ext cx="3333750" cy="0"/>
          </a:xfrm>
          <a:prstGeom prst="straightConnector1">
            <a:avLst/>
          </a:prstGeom>
          <a:ln w="38100">
            <a:solidFill>
              <a:srgbClr val="5EEAD4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087E01E-455D-4742-866E-08D2EBCF28BA}"/>
              </a:ext>
            </a:extLst>
          </p:cNvPr>
          <p:cNvSpPr>
            <a:spLocks noGrp="1"/>
          </p:cNvSpPr>
          <p:nvPr/>
        </p:nvSpPr>
        <p:spPr>
          <a:xfrm>
            <a:off x="400050" y="60198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E9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EDF4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github.com/vinaygangidi/ledger-sense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D8299-2619-49D7-BF89-B5D0E5E01B1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9BA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A8BA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</a:rPr>
              <a:t>OpenAI Build Week  ·  2026</a:t>
            </a:r>
          </a:p>
        </p:txBody>
      </p:sp>
    </p:spTree>
    <p:extLst>
      <p:ext uri="{BB962C8B-B14F-4D97-AF65-F5344CB8AC3E}">
        <p14:creationId xmlns:p14="http://schemas.microsoft.com/office/powerpoint/2010/main" val="20113581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 [1784659562656]">
  <a:themeElements>
    <a:clrScheme name="ChatGPT">
      <a:dk1>
        <a:srgbClr val="E9EDF4"/>
      </a:dk1>
      <a:lt1>
        <a:srgbClr val="0D1117"/>
      </a:lt1>
      <a:dk2>
        <a:srgbClr val="C7D0DC"/>
      </a:dk2>
      <a:lt2>
        <a:srgbClr val="19212E"/>
      </a:lt2>
      <a:accent1>
        <a:srgbClr val="5EEAD4"/>
      </a:accent1>
      <a:accent2>
        <a:srgbClr val="6FA8FF"/>
      </a:accent2>
      <a:accent3>
        <a:srgbClr val="E0A458"/>
      </a:accent3>
      <a:accent4>
        <a:srgbClr val="F0736B"/>
      </a:accent4>
      <a:accent5>
        <a:srgbClr val="C792EA"/>
      </a:accent5>
      <a:accent6>
        <a:srgbClr val="86D98F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777E73-0A9C-0C41-ADDB-C559BEB545A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0600ede-b97d-420d-b845-6dad9a367e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562</Words>
  <Application>Microsoft Macintosh PowerPoint</Application>
  <DocSecurity>0</DocSecurity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Helvetica Neue</vt:lpstr>
      <vt:lpstr>ChatGPT [1784659562656]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Vinay Reddy</cp:lastModifiedBy>
  <cp:revision>8</cp:revision>
  <dcterms:created xsi:type="dcterms:W3CDTF">2026-07-21T18:26:38Z</dcterms:created>
  <dcterms:modified xsi:type="dcterms:W3CDTF">2026-07-21T18:55:07Z</dcterms:modified>
</cp:coreProperties>
</file>